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d0721d83c648c9" /><Relationship Type="http://schemas.openxmlformats.org/officeDocument/2006/relationships/extended-properties" Target="/docProps/app.xml" Id="R261020f5583c45c7" /><Relationship Type="http://schemas.openxmlformats.org/officeDocument/2006/relationships/officeDocument" Target="/ppt/presentation.xml" Id="Rd1f92d253b024b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26119d928f441a"/>
  </p:sldMasterIdLst>
  <p:notesMasterIdLst>
    <p:notesMasterId xmlns:r="http://schemas.openxmlformats.org/officeDocument/2006/relationships" r:id="R014d89e25a484e74"/>
  </p:notesMasterIdLst>
  <p:sldIdLst>
    <p:sldId xmlns:r="http://schemas.openxmlformats.org/officeDocument/2006/relationships" id="256" r:id="Rd61d9b245f5c4f5c"/>
    <p:sldId xmlns:r="http://schemas.openxmlformats.org/officeDocument/2006/relationships" id="257" r:id="R794b645e8c1842ac"/>
    <p:sldId xmlns:r="http://schemas.openxmlformats.org/officeDocument/2006/relationships" id="258" r:id="R9bbed9d26bd84062"/>
    <p:sldId xmlns:r="http://schemas.openxmlformats.org/officeDocument/2006/relationships" id="259" r:id="Rff1fc7482f4240a1"/>
    <p:sldId xmlns:r="http://schemas.openxmlformats.org/officeDocument/2006/relationships" id="260" r:id="R5a4596e068f54125"/>
    <p:sldId xmlns:r="http://schemas.openxmlformats.org/officeDocument/2006/relationships" id="261" r:id="R517d6ccc9baa4eb7"/>
    <p:sldId xmlns:r="http://schemas.openxmlformats.org/officeDocument/2006/relationships" id="262" r:id="R21fa3c73b2e94d6d"/>
    <p:sldId xmlns:r="http://schemas.openxmlformats.org/officeDocument/2006/relationships" id="263" r:id="R87b8336006a74087"/>
    <p:sldId xmlns:r="http://schemas.openxmlformats.org/officeDocument/2006/relationships" id="264" r:id="R326717a1d3dd4575"/>
    <p:sldId xmlns:r="http://schemas.openxmlformats.org/officeDocument/2006/relationships" id="265" r:id="Rbdd2d54e23b44f16"/>
    <p:sldId xmlns:r="http://schemas.openxmlformats.org/officeDocument/2006/relationships" id="266" r:id="Rf34007cd9dd14b6b"/>
    <p:sldId xmlns:r="http://schemas.openxmlformats.org/officeDocument/2006/relationships" id="267" r:id="Rb95e02475dd44dfe"/>
    <p:sldId xmlns:r="http://schemas.openxmlformats.org/officeDocument/2006/relationships" id="268" r:id="R19e71403c826467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07f80c87884313" /><Relationship Type="http://schemas.openxmlformats.org/officeDocument/2006/relationships/slideMaster" Target="/ppt/slideMasters/slideMaster1.xml" Id="R4926119d928f441a" /><Relationship Type="http://schemas.openxmlformats.org/officeDocument/2006/relationships/notesMaster" Target="/ppt/notesMasters/notesMaster1.xml" Id="R014d89e25a484e74" /><Relationship Type="http://schemas.openxmlformats.org/officeDocument/2006/relationships/presProps" Target="/ppt/presProps.xml" Id="R09da8e0c69ab4784" /><Relationship Type="http://schemas.openxmlformats.org/officeDocument/2006/relationships/tableStyles" Target="/ppt/tableStyles.xml" Id="Rb9c9fc3ba7524190" /><Relationship Type="http://schemas.openxmlformats.org/officeDocument/2006/relationships/slide" Target="/ppt/slides/slide1.xml" Id="Rd61d9b245f5c4f5c" /><Relationship Type="http://schemas.openxmlformats.org/officeDocument/2006/relationships/slide" Target="/ppt/slides/slide2.xml" Id="R794b645e8c1842ac" /><Relationship Type="http://schemas.openxmlformats.org/officeDocument/2006/relationships/slide" Target="/ppt/slides/slide3.xml" Id="R9bbed9d26bd84062" /><Relationship Type="http://schemas.openxmlformats.org/officeDocument/2006/relationships/slide" Target="/ppt/slides/slide4.xml" Id="Rff1fc7482f4240a1" /><Relationship Type="http://schemas.openxmlformats.org/officeDocument/2006/relationships/slide" Target="/ppt/slides/slide5.xml" Id="R5a4596e068f54125" /><Relationship Type="http://schemas.openxmlformats.org/officeDocument/2006/relationships/slide" Target="/ppt/slides/slide6.xml" Id="R517d6ccc9baa4eb7" /><Relationship Type="http://schemas.openxmlformats.org/officeDocument/2006/relationships/slide" Target="/ppt/slides/slide7.xml" Id="R21fa3c73b2e94d6d" /><Relationship Type="http://schemas.openxmlformats.org/officeDocument/2006/relationships/slide" Target="/ppt/slides/slide8.xml" Id="R87b8336006a74087" /><Relationship Type="http://schemas.openxmlformats.org/officeDocument/2006/relationships/slide" Target="/ppt/slides/slide9.xml" Id="R326717a1d3dd4575" /><Relationship Type="http://schemas.openxmlformats.org/officeDocument/2006/relationships/slide" Target="/ppt/slides/slide10.xml" Id="Rbdd2d54e23b44f16" /><Relationship Type="http://schemas.openxmlformats.org/officeDocument/2006/relationships/slide" Target="/ppt/slides/slide11.xml" Id="Rf34007cd9dd14b6b" /><Relationship Type="http://schemas.openxmlformats.org/officeDocument/2006/relationships/slide" Target="/ppt/slides/slide12.xml" Id="Rb95e02475dd44dfe" /><Relationship Type="http://schemas.openxmlformats.org/officeDocument/2006/relationships/slide" Target="/ppt/slides/slide13.xml" Id="R19e71403c82646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24538c9e3548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608468a6854f93" /><Relationship Type="http://schemas.openxmlformats.org/officeDocument/2006/relationships/notesMaster" Target="/ppt/notesMasters/notesMaster1.xml" Id="R8e45d91ed48643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2b1dc3369e4ada" /><Relationship Type="http://schemas.openxmlformats.org/officeDocument/2006/relationships/notesMaster" Target="/ppt/notesMasters/notesMaster1.xml" Id="R2b770592c5da4a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eca85dc69b4f54" /><Relationship Type="http://schemas.openxmlformats.org/officeDocument/2006/relationships/notesMaster" Target="/ppt/notesMasters/notesMaster1.xml" Id="R437826bdd4f343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b1a63cf1954994" /><Relationship Type="http://schemas.openxmlformats.org/officeDocument/2006/relationships/notesMaster" Target="/ppt/notesMasters/notesMaster1.xml" Id="Rfc7676cb409e46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f6ca7038b94df2" /><Relationship Type="http://schemas.openxmlformats.org/officeDocument/2006/relationships/notesMaster" Target="/ppt/notesMasters/notesMaster1.xml" Id="R547d386d761c42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4af0cee1664e50" /><Relationship Type="http://schemas.openxmlformats.org/officeDocument/2006/relationships/notesMaster" Target="/ppt/notesMasters/notesMaster1.xml" Id="R39dc4a383a664ed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0b117636ff4ebf" /><Relationship Type="http://schemas.openxmlformats.org/officeDocument/2006/relationships/notesMaster" Target="/ppt/notesMasters/notesMaster1.xml" Id="R04c59bb1171b44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40d49c48984807" /><Relationship Type="http://schemas.openxmlformats.org/officeDocument/2006/relationships/notesMaster" Target="/ppt/notesMasters/notesMaster1.xml" Id="R8f187527c7d14a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7d2e312d73451c" /><Relationship Type="http://schemas.openxmlformats.org/officeDocument/2006/relationships/notesMaster" Target="/ppt/notesMasters/notesMaster1.xml" Id="Re0f7be0e8df0428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2985ef0c7f04437" /><Relationship Type="http://schemas.openxmlformats.org/officeDocument/2006/relationships/notesMaster" Target="/ppt/notesMasters/notesMaster1.xml" Id="R18c63edad0ee499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9a0b7ce71a2455e" /><Relationship Type="http://schemas.openxmlformats.org/officeDocument/2006/relationships/notesMaster" Target="/ppt/notesMasters/notesMaster1.xml" Id="Rb41c14a42e9641f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3acc8a8d6f141b9" /><Relationship Type="http://schemas.openxmlformats.org/officeDocument/2006/relationships/notesMaster" Target="/ppt/notesMasters/notesMaster1.xml" Id="R18bfdda6b735434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f1b8ce686b54a0f" /><Relationship Type="http://schemas.openxmlformats.org/officeDocument/2006/relationships/notesMaster" Target="/ppt/notesMasters/notesMaster1.xml" Id="R766c6454d10c4d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Conteúdo: apresentação institucional Agilliza fornecida pelo cliente.</a:t>
            </a:r>
          </a:p>
          <a:p xmlns:a="http://schemas.openxmlformats.org/drawingml/2006/main">
            <a:r>
              <a:t>- Identidade visual: Manual de Marca Agilliza fornecido pelo cliente.</a:t>
            </a:r>
          </a:p>
          <a:p xmlns:a="http://schemas.openxmlformats.org/drawingml/2006/main">
            <a:r>
              <a:t>- Logos: arquivos oficiais Agilliza fornecidos pelo cliente.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Conteúdo: apresentação institucional Agilliza fornecida pelo cliente.</a:t>
            </a:r>
          </a:p>
          <a:p xmlns:a="http://schemas.openxmlformats.org/drawingml/2006/main">
            <a:r>
              <a:t>- Identidade visual: Manual de Marca Agilliza fornecido pelo cliente.</a:t>
            </a:r>
          </a:p>
          <a:p xmlns:a="http://schemas.openxmlformats.org/drawingml/2006/main">
            <a:r>
              <a:t>- Logos: arquivos oficiais Agilliza fornecidos pelo cliente.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Conteúdo: apresentação institucional Agilliza fornecida pelo cliente.</a:t>
            </a:r>
          </a:p>
          <a:p xmlns:a="http://schemas.openxmlformats.org/drawingml/2006/main">
            <a:r>
              <a:t>- Identidade visual: Manual de Marca Agilliza fornecido pelo cliente.</a:t>
            </a:r>
          </a:p>
          <a:p xmlns:a="http://schemas.openxmlformats.org/drawingml/2006/main">
            <a:r>
              <a:t>- Logos: arquivos oficiais Agilliza fornecidos pelo cliente.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Conteúdo: apresentação institucional Agilliza fornecida pelo cliente.</a:t>
            </a:r>
          </a:p>
          <a:p xmlns:a="http://schemas.openxmlformats.org/drawingml/2006/main">
            <a:r>
              <a:t>- Identidade visual: Manual de Marca Agilliza fornecido pelo cliente.</a:t>
            </a:r>
          </a:p>
          <a:p xmlns:a="http://schemas.openxmlformats.org/drawingml/2006/main">
            <a:r>
              <a:t>- Logos: arquivos oficiais Agilliza fornecidos pelo cliente.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Conteúdo: apresentação institucional Agilliza fornecida pelo cliente.</a:t>
            </a:r>
          </a:p>
          <a:p xmlns:a="http://schemas.openxmlformats.org/drawingml/2006/main">
            <a:r>
              <a:t>- Identidade visual: Manual de Marca Agilliza fornecido pelo cliente.</a:t>
            </a:r>
          </a:p>
          <a:p xmlns:a="http://schemas.openxmlformats.org/drawingml/2006/main">
            <a:r>
              <a:t>- Logos: arquivos oficiais Agilliza fornecidos pelo cliente.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Conteúdo: apresentação institucional Agilliza fornecida pelo cliente.</a:t>
            </a:r>
          </a:p>
          <a:p xmlns:a="http://schemas.openxmlformats.org/drawingml/2006/main">
            <a:r>
              <a:t>- Identidade visual: Manual de Marca Agilliza fornecido pelo cliente.</a:t>
            </a:r>
          </a:p>
          <a:p xmlns:a="http://schemas.openxmlformats.org/drawingml/2006/main">
            <a:r>
              <a:t>- Logos: arquivos oficiais Agilliza fornecidos pelo cliente.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Conteúdo: apresentação institucional Agilliza fornecida pelo cliente.</a:t>
            </a:r>
          </a:p>
          <a:p xmlns:a="http://schemas.openxmlformats.org/drawingml/2006/main">
            <a:r>
              <a:t>- Identidade visual: Manual de Marca Agilliza fornecido pelo cliente.</a:t>
            </a:r>
          </a:p>
          <a:p xmlns:a="http://schemas.openxmlformats.org/drawingml/2006/main">
            <a:r>
              <a:t>- Logos: arquivos oficiais Agilliza fornecidos pelo cliente.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Conteúdo: apresentação institucional Agilliza fornecida pelo cliente.</a:t>
            </a:r>
          </a:p>
          <a:p xmlns:a="http://schemas.openxmlformats.org/drawingml/2006/main">
            <a:r>
              <a:t>- Identidade visual: Manual de Marca Agilliza fornecido pelo cliente.</a:t>
            </a:r>
          </a:p>
          <a:p xmlns:a="http://schemas.openxmlformats.org/drawingml/2006/main">
            <a:r>
              <a:t>- Logos: arquivos oficiais Agilliza fornecidos pelo cliente.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Conteúdo: apresentação institucional Agilliza fornecida pelo cliente.</a:t>
            </a:r>
          </a:p>
          <a:p xmlns:a="http://schemas.openxmlformats.org/drawingml/2006/main">
            <a:r>
              <a:t>- Identidade visual: Manual de Marca Agilliza fornecido pelo cliente.</a:t>
            </a:r>
          </a:p>
          <a:p xmlns:a="http://schemas.openxmlformats.org/drawingml/2006/main">
            <a:r>
              <a:t>- Logos: arquivos oficiais Agilliza fornecidos pelo cliente.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Conteúdo: apresentação institucional Agilliza fornecida pelo cliente.</a:t>
            </a:r>
          </a:p>
          <a:p xmlns:a="http://schemas.openxmlformats.org/drawingml/2006/main">
            <a:r>
              <a:t>- Identidade visual: Manual de Marca Agilliza fornecido pelo cliente.</a:t>
            </a:r>
          </a:p>
          <a:p xmlns:a="http://schemas.openxmlformats.org/drawingml/2006/main">
            <a:r>
              <a:t>- Logos: arquivos oficiais Agilliza fornecidos pelo cliente.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Conteúdo: apresentação institucional Agilliza fornecida pelo cliente.</a:t>
            </a:r>
          </a:p>
          <a:p xmlns:a="http://schemas.openxmlformats.org/drawingml/2006/main">
            <a:r>
              <a:t>- Identidade visual: Manual de Marca Agilliza fornecido pelo cliente.</a:t>
            </a:r>
          </a:p>
          <a:p xmlns:a="http://schemas.openxmlformats.org/drawingml/2006/main">
            <a:r>
              <a:t>- Logos: arquivos oficiais Agilliza fornecidos pelo cliente.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Conteúdo: apresentação institucional Agilliza fornecida pelo cliente.</a:t>
            </a:r>
          </a:p>
          <a:p xmlns:a="http://schemas.openxmlformats.org/drawingml/2006/main">
            <a:r>
              <a:t>- Identidade visual: Manual de Marca Agilliza fornecido pelo cliente.</a:t>
            </a:r>
          </a:p>
          <a:p xmlns:a="http://schemas.openxmlformats.org/drawingml/2006/main">
            <a:r>
              <a:t>- Logos: arquivos oficiais Agilliza fornecidos pelo cliente.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Conteúdo: apresentação institucional Agilliza fornecida pelo cliente.</a:t>
            </a:r>
          </a:p>
          <a:p xmlns:a="http://schemas.openxmlformats.org/drawingml/2006/main">
            <a:r>
              <a:t>- Identidade visual: Manual de Marca Agilliza fornecido pelo cliente.</a:t>
            </a:r>
          </a:p>
          <a:p xmlns:a="http://schemas.openxmlformats.org/drawingml/2006/main">
            <a:r>
              <a:t>- Logos: arquivos oficiais Agilliza fornecidos pelo cliente.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d343068ee24c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871a54e2ac471e" /><Relationship Type="http://schemas.openxmlformats.org/officeDocument/2006/relationships/slideLayout" Target="/ppt/slideLayouts/slideLayout1.xml" Id="R4c909ae8b12d49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909ae8b12d49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cce1c5490f4393" /><Relationship Type="http://schemas.openxmlformats.org/officeDocument/2006/relationships/image" Target="/ppt/media/image.png" Id="Rfa485c3232a44181" /><Relationship Type="http://schemas.openxmlformats.org/officeDocument/2006/relationships/image" Target="/ppt/media/image2.png" Id="R34ed130eb5ad41f7" /><Relationship Type="http://schemas.openxmlformats.org/officeDocument/2006/relationships/notesSlide" Target="/ppt/notesSlides/notesSlide1.xml" Id="R6589c7b3649f4f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6ba9360ca44b14" /><Relationship Type="http://schemas.openxmlformats.org/officeDocument/2006/relationships/image" Target="/ppt/media/image3.png" Id="R5196af3d945c4f46" /><Relationship Type="http://schemas.openxmlformats.org/officeDocument/2006/relationships/image" Target="/ppt/media/image4.png" Id="R854415de5ac34502" /><Relationship Type="http://schemas.openxmlformats.org/officeDocument/2006/relationships/notesSlide" Target="/ppt/notesSlides/notesSlide2.xml" Id="R2736b505858d4a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3b107cbbc406d" /><Relationship Type="http://schemas.openxmlformats.org/officeDocument/2006/relationships/image" Target="/ppt/media/image5.png" Id="R8b17be3610ed49aa" /><Relationship Type="http://schemas.openxmlformats.org/officeDocument/2006/relationships/image" Target="/ppt/media/image6.png" Id="Rf5a5f85b43ef4e56" /><Relationship Type="http://schemas.openxmlformats.org/officeDocument/2006/relationships/notesSlide" Target="/ppt/notesSlides/notesSlide3.xml" Id="R537558024c3b49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74e6768a0486f" /><Relationship Type="http://schemas.openxmlformats.org/officeDocument/2006/relationships/image" Target="/ppt/media/image7.png" Id="R8e5c1321248f46ed" /><Relationship Type="http://schemas.openxmlformats.org/officeDocument/2006/relationships/image" Target="/ppt/media/image8.png" Id="Ra76c95edeccd4185" /><Relationship Type="http://schemas.openxmlformats.org/officeDocument/2006/relationships/notesSlide" Target="/ppt/notesSlides/notesSlide4.xml" Id="Ra57941a102f344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f43f5fc1e41a2" /><Relationship Type="http://schemas.openxmlformats.org/officeDocument/2006/relationships/image" Target="/ppt/media/image9.png" Id="Rb4e34a0c1b734018" /><Relationship Type="http://schemas.openxmlformats.org/officeDocument/2006/relationships/notesSlide" Target="/ppt/notesSlides/notesSlide5.xml" Id="Raaafb345d3f24d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56194f708346f3" /><Relationship Type="http://schemas.openxmlformats.org/officeDocument/2006/relationships/image" Target="/ppt/media/image10.png" Id="R8d3f092e0e144fb7" /><Relationship Type="http://schemas.openxmlformats.org/officeDocument/2006/relationships/notesSlide" Target="/ppt/notesSlides/notesSlide6.xml" Id="R5d7d268fbdc544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9449832924766" /><Relationship Type="http://schemas.openxmlformats.org/officeDocument/2006/relationships/image" Target="/ppt/media/image11.png" Id="Re597f25021fc465e" /><Relationship Type="http://schemas.openxmlformats.org/officeDocument/2006/relationships/image" Target="/ppt/media/image12.png" Id="R0616fa681f2344d7" /><Relationship Type="http://schemas.openxmlformats.org/officeDocument/2006/relationships/notesSlide" Target="/ppt/notesSlides/notesSlide7.xml" Id="R7a4b6da224794c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07c19de7d64c89" /><Relationship Type="http://schemas.openxmlformats.org/officeDocument/2006/relationships/image" Target="/ppt/media/image13.png" Id="Ra50c67f7dedc4ed7" /><Relationship Type="http://schemas.openxmlformats.org/officeDocument/2006/relationships/notesSlide" Target="/ppt/notesSlides/notesSlide8.xml" Id="Rd556408bd65348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007930f3be47cf" /><Relationship Type="http://schemas.openxmlformats.org/officeDocument/2006/relationships/image" Target="/ppt/media/image14.png" Id="R31a80e8374c84d2f" /><Relationship Type="http://schemas.openxmlformats.org/officeDocument/2006/relationships/notesSlide" Target="/ppt/notesSlides/notesSlide9.xml" Id="Rcf0e7bf07a6e46a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97335700144d6" /><Relationship Type="http://schemas.openxmlformats.org/officeDocument/2006/relationships/image" Target="/ppt/media/image.jpeg" Id="Ra1c657abc4e7443b" /><Relationship Type="http://schemas.openxmlformats.org/officeDocument/2006/relationships/image" Target="/ppt/media/image15.png" Id="R0ed7832ecdc441be" /><Relationship Type="http://schemas.openxmlformats.org/officeDocument/2006/relationships/notesSlide" Target="/ppt/notesSlides/notesSlide10.xml" Id="Rd3fa349602b245d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65057a68e84af6" /><Relationship Type="http://schemas.openxmlformats.org/officeDocument/2006/relationships/image" Target="/ppt/media/image16.png" Id="Re547e2ae52d8404a" /><Relationship Type="http://schemas.openxmlformats.org/officeDocument/2006/relationships/image" Target="/ppt/media/image17.png" Id="Rccd04da947de465f" /><Relationship Type="http://schemas.openxmlformats.org/officeDocument/2006/relationships/image" Target="/ppt/media/image18.png" Id="Rd0ac59c0c7804e13" /><Relationship Type="http://schemas.openxmlformats.org/officeDocument/2006/relationships/notesSlide" Target="/ppt/notesSlides/notesSlide11.xml" Id="R0efaac37d3ae4c1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a408cac26748ca" /><Relationship Type="http://schemas.openxmlformats.org/officeDocument/2006/relationships/image" Target="/ppt/media/image19.png" Id="Rd02d576426504b30" /><Relationship Type="http://schemas.openxmlformats.org/officeDocument/2006/relationships/image" Target="/ppt/media/image20.png" Id="Rdd6f4205d9e348b7" /><Relationship Type="http://schemas.openxmlformats.org/officeDocument/2006/relationships/notesSlide" Target="/ppt/notesSlides/notesSlide12.xml" Id="R640921b6c73d4d9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dd1f7276874643" /><Relationship Type="http://schemas.openxmlformats.org/officeDocument/2006/relationships/image" Target="/ppt/media/image21.png" Id="R2775eda4f60741f2" /><Relationship Type="http://schemas.openxmlformats.org/officeDocument/2006/relationships/image" Target="/ppt/media/image22.png" Id="R408c3d86ed9e4056" /><Relationship Type="http://schemas.openxmlformats.org/officeDocument/2006/relationships/notesSlide" Target="/ppt/notesSlides/notesSlide13.xml" Id="Ra2f7e85eaba8473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485c3232a4418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642695-1C20-4C42-8150-1C57831A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43F">
              <a:alpha val="85098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4D22B1-C778-4808-B11D-04D81B78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048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43F">
              <a:alpha val="9490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F5143-A3AC-44BF-A8AB-9003717F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333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ed130eb5ad41f7"/>
          <a:stretch xmlns:a="http://schemas.openxmlformats.org/drawingml/2006/main"/>
        </p:blipFill>
        <p:spPr>
          <a:xfrm xmlns:a="http://schemas.openxmlformats.org/drawingml/2006/main">
            <a:off x="723900" y="1804029"/>
            <a:ext cx="4476750" cy="163069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C9C435-8311-4ECD-9804-34DC1992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DOCUMENTOS &amp; SERVIÇOS IMOBILIÁRIOS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15084D-9985-4498-839C-177909C0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7239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333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75020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1B09E5-B6AB-4FE7-930E-1143B18E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4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89FA32-DAFD-4A22-BBEB-B72AF66B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333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96af3d945c4f46"/>
          <a:stretch xmlns:a="http://schemas.openxmlformats.org/drawingml/2006/main"/>
        </p:blipFill>
        <p:spPr>
          <a:xfrm xmlns:a="http://schemas.openxmlformats.org/drawingml/2006/main">
            <a:off x="685800" y="556217"/>
            <a:ext cx="1809750" cy="65921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C83C0-EB28-40EC-9DD8-515AB2B5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143000"/>
            <a:ext cx="514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3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F7A2BF-6031-460F-A75B-23612BF1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24000"/>
            <a:ext cx="5905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0F9F"/>
                </a:solidFill>
              </a:defRPr>
            </a:pPr>
            <a:r>
              <a:rPr sz="3750" b="1">
                <a:solidFill>
                  <a:srgbClr val="000F9F"/>
                </a:solidFill>
              </a:rPr>
              <a:t>PROPOSTA DE</a:t>
            </a:r>
          </a:p>
          <a:p xmlns:a="http://schemas.openxmlformats.org/drawingml/2006/main">
            <a:pPr algn="l">
              <a:defRPr sz="3750" b="1">
                <a:solidFill>
                  <a:srgbClr val="000F9F"/>
                </a:solidFill>
              </a:defRPr>
            </a:pPr>
            <a:r>
              <a:rPr sz="3750" b="1">
                <a:solidFill>
                  <a:srgbClr val="000F9F"/>
                </a:solidFill>
              </a:rPr>
              <a:t>PARCERIA</a:t>
            </a:r>
          </a:p>
          <a:p xmlns:a="http://schemas.openxmlformats.org/drawingml/2006/main">
            <a:pPr algn="l">
              <a:defRPr sz="3750" b="1">
                <a:solidFill>
                  <a:srgbClr val="000F9F"/>
                </a:solidFill>
              </a:defRPr>
            </a:pPr>
            <a:r>
              <a:rPr sz="3750" b="1">
                <a:solidFill>
                  <a:srgbClr val="000F9F"/>
                </a:solidFill>
              </a:rPr>
              <a:t>COMERCIAL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0924C1-201F-4EDF-9A3F-8C9145DA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6720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3E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4415de5ac34502"/>
          <a:stretch xmlns:a="http://schemas.openxmlformats.org/drawingml/2006/main"/>
        </p:blipFill>
        <p:spPr>
          <a:xfrm xmlns:a="http://schemas.openxmlformats.org/drawingml/2006/main">
            <a:off x="10288073" y="6191250"/>
            <a:ext cx="1255155" cy="457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1DA1CD-44AD-4470-B767-9202E7FF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D7180"/>
                </a:solidFill>
              </a:defRPr>
            </a:pPr>
            <a:r>
              <a:rPr sz="825" b="1">
                <a:solidFill>
                  <a:srgbClr val="6D718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507260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8CDACF-1A1B-4A2D-8778-92F019C5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4572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3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1092FC-E922-4E33-B199-0A4413A3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F9F"/>
                </a:solidFill>
              </a:defRPr>
            </a:pPr>
            <a:r>
              <a:rPr sz="2850" b="1">
                <a:solidFill>
                  <a:srgbClr val="000F9F"/>
                </a:solidFill>
              </a:rPr>
              <a:t>Nosso objetivo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7650F2-C94F-4D54-AAA7-86E92FC2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A Agilliza é muito mais do que financiamento imobiliário e home equity — empréstimo com garantia de imóvel.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704818-61BD-48FC-A2D3-72744584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7429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Nossa missão é ajudar nossos parceiros a não perder negócio, buscando as melhores soluções e analisando caso a caso.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88E39-8353-48D7-86CD-AA520D6E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7429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00F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D5C2C0-2849-4E94-8961-F100F810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6819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Cada operação é única para nós.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F4AA94-1F62-45B4-8420-7DCA3D60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28750"/>
            <a:ext cx="2190750" cy="39052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5333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17be3610ed49aa"/>
          <a:stretch xmlns:a="http://schemas.openxmlformats.org/drawingml/2006/main"/>
        </p:blipFill>
        <p:spPr>
          <a:xfrm xmlns:a="http://schemas.openxmlformats.org/drawingml/2006/main">
            <a:off x="9258300" y="2940183"/>
            <a:ext cx="1428750" cy="520433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a5f85b43ef4e56"/>
          <a:stretch xmlns:a="http://schemas.openxmlformats.org/drawingml/2006/main"/>
        </p:blipFill>
        <p:spPr>
          <a:xfrm xmlns:a="http://schemas.openxmlformats.org/drawingml/2006/main">
            <a:off x="10288073" y="6191250"/>
            <a:ext cx="1255155" cy="4572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370BC9-45EA-49BD-94A4-F14BA976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D7180"/>
                </a:solidFill>
              </a:defRPr>
            </a:pPr>
            <a:r>
              <a:rPr sz="825" b="1">
                <a:solidFill>
                  <a:srgbClr val="6D718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002057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4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304690-9FB7-477C-A925-AB08653C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4572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3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2CC29A-F9C2-4631-980C-DD7F8896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Nossos serviços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CDE1C4-6DC5-45E4-B351-BBA5852D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DCFF"/>
                </a:solidFill>
              </a:defRPr>
            </a:pPr>
            <a:r>
              <a:rPr sz="1350" b="0">
                <a:solidFill>
                  <a:srgbClr val="D9DCFF"/>
                </a:solidFill>
              </a:rPr>
              <a:t>Serviço personalizado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83D1E-78C8-46C9-8ABC-22BD8D14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3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CC3F73-F70A-43AD-8748-9D711450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43100"/>
            <a:ext cx="7467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Consultas de CPFs;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64359F-1632-4C5A-B1B4-F68D6B2A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3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E3F599-A155-4415-9E83-6BA9E9E7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7467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Simulações;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E59DF8-72D7-4094-BFB5-38CD2F85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3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78411B-A5DE-4B10-8665-319825C7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0400"/>
            <a:ext cx="7467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Aprovações de crédito;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12A9F1-08C6-4D3D-8240-9E0E38D7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3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3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4E2373-D80A-4136-8554-229F98F6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29050"/>
            <a:ext cx="7467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Acompanhamento das propostas via sistema e feedback constante aos parceiros;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CF59A2-A6C7-42B6-9BC4-DEC1D2E5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62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3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757164-4A56-49E0-BD08-C327234D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57700"/>
            <a:ext cx="7467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Emissão do contrato — até o registro final (contrato registrado e entrega junto ao banco para a liberação de pagamento junto aos vendedores e compradores);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CD380B-2C2D-4B18-B85C-3682E584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3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14DA64-EBBA-4F44-8463-3447ECF0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86350"/>
            <a:ext cx="7467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Todos os formulários necessários são preenchidos pela nossa equipe especializada.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08B66F-2B22-4235-9CAE-DC8416DF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47850"/>
            <a:ext cx="2305050" cy="3429000"/>
          </a:xfrm>
          <a:prstGeom xmlns:a="http://schemas.openxmlformats.org/drawingml/2006/main" prst="roundRect">
            <a:avLst>
              <a:gd name="adj" fmla="val 4959"/>
            </a:avLst>
          </a:prstGeom>
          <a:solidFill xmlns:a="http://schemas.openxmlformats.org/drawingml/2006/main">
            <a:srgbClr val="000F9F"/>
          </a:solidFill>
          <a:ln xmlns:a="http://schemas.openxmlformats.org/drawingml/2006/main" w="9525">
            <a:solidFill>
              <a:srgbClr val="3039B8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5c1321248f46ed"/>
          <a:stretch xmlns:a="http://schemas.openxmlformats.org/drawingml/2006/main"/>
        </p:blipFill>
        <p:spPr>
          <a:xfrm xmlns:a="http://schemas.openxmlformats.org/drawingml/2006/main">
            <a:off x="9315450" y="3118572"/>
            <a:ext cx="1390650" cy="506555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6c95edeccd4185"/>
          <a:stretch xmlns:a="http://schemas.openxmlformats.org/drawingml/2006/main"/>
        </p:blipFill>
        <p:spPr>
          <a:xfrm xmlns:a="http://schemas.openxmlformats.org/drawingml/2006/main">
            <a:off x="10288073" y="6191250"/>
            <a:ext cx="1255155" cy="4572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A22C1F-74B1-436A-B010-C4E3F0FE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8CBF8"/>
                </a:solidFill>
              </a:defRPr>
            </a:pPr>
            <a:r>
              <a:rPr sz="825" b="1">
                <a:solidFill>
                  <a:srgbClr val="C8CBF8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563737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70AE60-5004-4407-A69B-76020741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4572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3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4A84F8-37DF-42BF-9837-9ED58E9C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0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3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2AAE24-C6AA-4F83-AC9B-422B7F39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0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1C437A-CA47-4D00-9734-34B37DC2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10490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F9F"/>
                </a:solidFill>
              </a:defRPr>
            </a:pPr>
            <a:r>
              <a:rPr sz="2025" b="1">
                <a:solidFill>
                  <a:srgbClr val="000F9F"/>
                </a:solidFill>
              </a:rPr>
              <a:t>Disponibilidade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81EDD-52B3-49E5-A0D2-D4444DF3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00200"/>
            <a:ext cx="904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O acesso à equipe Agilliza é direto e muito mais rápido e eficaz do que o contato e a dependência das agências bancárias ou 0800 dos bancos.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F0ED6C-455A-4CBC-ADDC-DF813C35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36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E145D1-5D78-443E-BBF5-7689D828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3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12B0F5-7D97-45B7-A679-831ABF1F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0A0D40-665D-4123-B1E2-6583AC96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2905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F9F"/>
                </a:solidFill>
              </a:defRPr>
            </a:pPr>
            <a:r>
              <a:rPr sz="2025" b="1">
                <a:solidFill>
                  <a:srgbClr val="000F9F"/>
                </a:solidFill>
              </a:rPr>
              <a:t>Economia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A7C364-5D38-4D7F-BC27-5358A38E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243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Fazemos toda a gestão dos contratos de financiamentos, de maneira que a imobiliária parceira não precisará de funcionários exclusivos para gestão e controle das operações.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E904CF-B677-4A7D-8CBF-0A42B217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62550"/>
            <a:ext cx="904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333F"/>
                </a:solidFill>
              </a:defRPr>
            </a:pPr>
            <a:r>
              <a:rPr sz="1500" b="1">
                <a:solidFill>
                  <a:srgbClr val="F5333F"/>
                </a:solidFill>
              </a:rPr>
              <a:t>Não cobramos pelos serviços prestados, pois recebemos diretamente dos bancos.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e34a0c1b734018"/>
          <a:stretch xmlns:a="http://schemas.openxmlformats.org/drawingml/2006/main"/>
        </p:blipFill>
        <p:spPr>
          <a:xfrm xmlns:a="http://schemas.openxmlformats.org/drawingml/2006/main">
            <a:off x="10288073" y="6191250"/>
            <a:ext cx="1255155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5FA064-4352-4329-9B2B-6CF13A93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D7180"/>
                </a:solidFill>
              </a:defRPr>
            </a:pPr>
            <a:r>
              <a:rPr sz="825" b="1">
                <a:solidFill>
                  <a:srgbClr val="6D718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251848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4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876CE0-7E34-43D0-B9EA-45D523DF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4572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3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983412-1CF0-4A21-866C-9C829B67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4876800" cy="37719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3D46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27AF0D-B253-455F-A5AA-FDC8CA41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81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3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141AD2-1ED8-431B-9F74-21948337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81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3EB83-9833-4574-8616-780B1B85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Soluções personalizadas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8AFBF-E1E3-4E06-AE1E-90308812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40195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Com a Agilliza, você tem informações diretas com o analista que será destinado a atender seu contrato em horário comercial, de segunda a sexta-feira.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2368B6-F153-4628-A989-F60E013F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200150"/>
            <a:ext cx="5181600" cy="37719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000F9F"/>
          </a:solidFill>
          <a:ln xmlns:a="http://schemas.openxmlformats.org/drawingml/2006/main" w="9525">
            <a:solidFill>
              <a:srgbClr val="4A52C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E23FED-5E93-421C-89E7-EB5E2626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81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3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1BA739-E3DE-46DA-A48A-BAE0387B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81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FC7BA2-0DED-4543-A5F0-B042FDB0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5049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Conexões Exclusivas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4C09B5-0A69-43F1-95CD-95878263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24100"/>
            <a:ext cx="43243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Temos conexões diretas com as principais plataformas de financiamento imobiliário dos principais bancos do país.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3f092e0e144fb7"/>
          <a:stretch xmlns:a="http://schemas.openxmlformats.org/drawingml/2006/main"/>
        </p:blipFill>
        <p:spPr>
          <a:xfrm xmlns:a="http://schemas.openxmlformats.org/drawingml/2006/main">
            <a:off x="10288073" y="6191250"/>
            <a:ext cx="1255155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C8AF5C-A4FA-47F0-AB8C-15D5BE9A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8CBF8"/>
                </a:solidFill>
              </a:defRPr>
            </a:pPr>
            <a:r>
              <a:rPr sz="825" b="1">
                <a:solidFill>
                  <a:srgbClr val="C8CBF8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09577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97f25021fc465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9B336D-1DAF-408F-BDAF-CE195F4F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34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DE46A5-1C08-4837-9333-C24C1430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0"/>
            <a:ext cx="485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43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888E33-F5DB-4519-8FAC-48C3C1D2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4572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3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FA0CAA-3C5D-412E-8314-86AE5706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F9F"/>
                </a:solidFill>
              </a:defRPr>
            </a:pPr>
            <a:r>
              <a:rPr sz="2850" b="1">
                <a:solidFill>
                  <a:srgbClr val="000F9F"/>
                </a:solidFill>
              </a:rPr>
              <a:t>Home Equity/Crédito com garantia de imóvel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C2139D-E71B-4D32-A457-ED573E42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65722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E2E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3252BA-DBB8-4A86-BB2E-61D14993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59626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É uma modalidade de empréstimo na qual o imóvel serve como garantia para obtenção de crédito pessoal. Nesse tipo de operação, o objetivo é conseguir um empréstimo com juros mais baixos em comparação a outras modalidades, tais como crédito pessoal.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CD4524-D2A7-413A-8666-3D0EB5C2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596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Além disso, o solicitante pode usar o montante para qualquer finalidade, não sendo necessário especificar para que o dinheiro será usado.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16fa681f2344d7"/>
          <a:stretch xmlns:a="http://schemas.openxmlformats.org/drawingml/2006/main"/>
        </p:blipFill>
        <p:spPr>
          <a:xfrm xmlns:a="http://schemas.openxmlformats.org/drawingml/2006/main">
            <a:off x="10288073" y="6191250"/>
            <a:ext cx="1255155" cy="4572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7876DA-AC3C-4446-9CC7-3A123487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D7180"/>
                </a:solidFill>
              </a:defRPr>
            </a:pPr>
            <a:r>
              <a:rPr sz="825" b="1">
                <a:solidFill>
                  <a:srgbClr val="6D718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926819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04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2C4955-5E29-4165-84A3-A20B0348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4572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3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FC3461-8B8F-43AF-8A88-81BD75A6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Quais as vantagens do Home Equity/Crédito com garantia de imóvel?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5836D8-6F51-4FC5-B9FE-085E2B0B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363200" cy="28194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343D9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5164B9-B5EA-4DAD-9EB4-0BDFA9BA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333F"/>
                </a:solidFill>
              </a:defRPr>
            </a:pPr>
            <a:r>
              <a:rPr sz="2550" b="1">
                <a:solidFill>
                  <a:srgbClr val="F5333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A14D00-80F4-4EB1-969C-3C6E68BC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812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Obtenção de crédito pessoal a juros mais baixos;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E3637A-044D-46FC-9550-8AF626C3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14700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D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646EE7-A865-431F-AFCB-A041D5A1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333F"/>
                </a:solidFill>
              </a:defRPr>
            </a:pPr>
            <a:r>
              <a:rPr sz="2550" b="1">
                <a:solidFill>
                  <a:srgbClr val="F5333F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5C9A3C-BF5A-4ECA-9C5F-9E5B4DC2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86150"/>
            <a:ext cx="8096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Solução para pessoas físicas e jurídicas fazerem a reorganização financeira a taxas de juros mais atrativas.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0c67f7dedc4ed7"/>
          <a:stretch xmlns:a="http://schemas.openxmlformats.org/drawingml/2006/main"/>
        </p:blipFill>
        <p:spPr>
          <a:xfrm xmlns:a="http://schemas.openxmlformats.org/drawingml/2006/main">
            <a:off x="10288073" y="6191250"/>
            <a:ext cx="1255155" cy="4572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9F70D6-B7DD-4507-94C4-C7D345CA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8CBF8"/>
                </a:solidFill>
              </a:defRPr>
            </a:pPr>
            <a:r>
              <a:rPr sz="825" b="1">
                <a:solidFill>
                  <a:srgbClr val="C8CBF8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455586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19C079-72EF-4E72-A2F3-BCF3BA47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4572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3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7A7E68-AB53-4778-BCC1-AEF22F85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F9F"/>
                </a:solidFill>
              </a:defRPr>
            </a:pPr>
            <a:r>
              <a:rPr sz="2850" b="1">
                <a:solidFill>
                  <a:srgbClr val="000F9F"/>
                </a:solidFill>
              </a:rPr>
              <a:t>Quem pode fazer Home Equity?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263B0B-C677-48F2-A9C3-6CF0613A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363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Qualquer pessoa física ou jurídica. De modo geral, são aceitos imóveis comerciais ou residenciais regularizados, com o valor mínimo de avaliação, que pode variar entre cada instituição.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F40848-F20B-4895-AEAF-3EA20421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3632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000F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4E52F2-D3D7-46DA-BDCB-E2351726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O que é preciso para a contratação?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24E356-9AA0-46AA-8A56-83BAD4BF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0"/>
            <a:ext cx="9029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Em termos gerais, é importante ter a documentação do imóvel atualizada. Matrícula do imóvel e IPTU: documento de registro do imóvel em um Cartório de Registro de Imóveis.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a80e8374c84d2f"/>
          <a:stretch xmlns:a="http://schemas.openxmlformats.org/drawingml/2006/main"/>
        </p:blipFill>
        <p:spPr>
          <a:xfrm xmlns:a="http://schemas.openxmlformats.org/drawingml/2006/main">
            <a:off x="10288073" y="6191250"/>
            <a:ext cx="1255155" cy="457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2CC4C5-4C27-4831-90BB-4DEE82F0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D7180"/>
                </a:solidFill>
              </a:defRPr>
            </a:pPr>
            <a:r>
              <a:rPr sz="825" b="1">
                <a:solidFill>
                  <a:srgbClr val="6D7180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851248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04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02CC61-69C3-4761-A2FF-804B8957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4572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3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8EEE80-44CB-4E7E-9AE7-98002EA3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Algumas de nossas certificações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B4E352-751C-448C-89A6-2A33229F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363200" cy="33147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46A8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c657abc4e7443b"/>
          <a:stretch xmlns:a="http://schemas.openxmlformats.org/drawingml/2006/main"/>
        </p:blipFill>
        <p:spPr>
          <a:xfrm xmlns:a="http://schemas.openxmlformats.org/drawingml/2006/main">
            <a:off x="2121606" y="2286000"/>
            <a:ext cx="7320139" cy="238125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d7832ecdc441be"/>
          <a:stretch xmlns:a="http://schemas.openxmlformats.org/drawingml/2006/main"/>
        </p:blipFill>
        <p:spPr>
          <a:xfrm xmlns:a="http://schemas.openxmlformats.org/drawingml/2006/main">
            <a:off x="10288073" y="6191250"/>
            <a:ext cx="1255155" cy="4572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EA9109-F2C2-40EB-9277-C0D150AE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8CBF8"/>
                </a:solidFill>
              </a:defRPr>
            </a:pPr>
            <a:r>
              <a:rPr sz="825" b="1">
                <a:solidFill>
                  <a:srgbClr val="C8CBF8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9237643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47e2ae52d8404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74B371-AF13-4903-9B9F-1EFE3C6A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43F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64FE2C-C7E9-4624-AC08-0ABB3317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43F">
              <a:alpha val="93725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2D1CE9-1958-4470-8CF4-BD0D4CAE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333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d04da947de465f"/>
          <a:stretch xmlns:a="http://schemas.openxmlformats.org/drawingml/2006/main"/>
        </p:blipFill>
        <p:spPr>
          <a:xfrm xmlns:a="http://schemas.openxmlformats.org/drawingml/2006/main">
            <a:off x="609600" y="523224"/>
            <a:ext cx="2095500" cy="76330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47F6FE-DCC2-4BD4-B676-54EFAF3D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Conte com os serviços de uma empresa especializada!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893102-802E-4E92-B701-3A4AEF3F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5048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333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ac59c0c7804e13"/>
          <a:stretch xmlns:a="http://schemas.openxmlformats.org/drawingml/2006/main"/>
        </p:blipFill>
        <p:spPr>
          <a:xfrm xmlns:a="http://schemas.openxmlformats.org/drawingml/2006/main">
            <a:off x="10288073" y="6191250"/>
            <a:ext cx="1255155" cy="4572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AAB56E-7192-4F26-8062-72C0D094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8CBF8"/>
                </a:solidFill>
              </a:defRPr>
            </a:pPr>
            <a:r>
              <a:rPr sz="825" b="1">
                <a:solidFill>
                  <a:srgbClr val="C8CBF8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615763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132633-C0AF-4AE1-BD97-525BE73A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4572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3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388B30-CA17-41D3-ADA9-63AF4851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F9F"/>
                </a:solidFill>
              </a:defRPr>
            </a:pPr>
            <a:r>
              <a:rPr sz="2850" b="1">
                <a:solidFill>
                  <a:srgbClr val="000F9F"/>
                </a:solidFill>
              </a:rPr>
              <a:t>Entre em contato!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2ED2C8-E03D-46AE-98C1-14302CB9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363200" cy="348615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000F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A88767-C008-4A37-B719-7F3B0B02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Charles Carvalho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159B00-5DD9-4B79-BCCD-709192B3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94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(19) 98326-0030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E50E87-9ABD-4AD9-9E8D-B8717E11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charles@agilliza.net.br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2d576426504b30"/>
          <a:stretch xmlns:a="http://schemas.openxmlformats.org/drawingml/2006/main"/>
        </p:blipFill>
        <p:spPr>
          <a:xfrm xmlns:a="http://schemas.openxmlformats.org/drawingml/2006/main">
            <a:off x="7239000" y="2870467"/>
            <a:ext cx="2857500" cy="1040867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6f4205d9e348b7"/>
          <a:stretch xmlns:a="http://schemas.openxmlformats.org/drawingml/2006/main"/>
        </p:blipFill>
        <p:spPr>
          <a:xfrm xmlns:a="http://schemas.openxmlformats.org/drawingml/2006/main">
            <a:off x="10288073" y="6191250"/>
            <a:ext cx="1255155" cy="4572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5A9CC1-0062-47DA-9694-4A8D8BA8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D7180"/>
                </a:solidFill>
              </a:defRPr>
            </a:pPr>
            <a:r>
              <a:rPr sz="825" b="1">
                <a:solidFill>
                  <a:srgbClr val="6D7180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866245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75eda4f60741f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CDCE95-AD2B-4CD9-8DC4-7CFEAD52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43F">
              <a:alpha val="76078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9A670-287D-42D0-8386-BA54173A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333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8c3d86ed9e4056"/>
          <a:stretch xmlns:a="http://schemas.openxmlformats.org/drawingml/2006/main"/>
        </p:blipFill>
        <p:spPr>
          <a:xfrm xmlns:a="http://schemas.openxmlformats.org/drawingml/2006/main">
            <a:off x="4000500" y="1465548"/>
            <a:ext cx="4191000" cy="152660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7481B1-906A-409D-89AC-A5A211AE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385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www.agilliza.net.br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E52D2C-CBF4-45A8-B58E-EC061A61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57700"/>
            <a:ext cx="24765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333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908370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2026-08-05T17:01:33.9690000Z</dcterms:created>
  <dcterms:modified xsi:type="dcterms:W3CDTF">2026-08-05T17:01:33.9690000Z</dcterms:modified>
</coreProperties>
</file>